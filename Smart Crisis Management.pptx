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97" r:id="rId2"/>
    <p:sldId id="257" r:id="rId3"/>
    <p:sldId id="258" r:id="rId4"/>
    <p:sldId id="259" r:id="rId5"/>
    <p:sldId id="277" r:id="rId6"/>
    <p:sldId id="319" r:id="rId7"/>
    <p:sldId id="295" r:id="rId8"/>
    <p:sldId id="279" r:id="rId9"/>
    <p:sldId id="299" r:id="rId10"/>
    <p:sldId id="315" r:id="rId11"/>
    <p:sldId id="317" r:id="rId12"/>
    <p:sldId id="296" r:id="rId13"/>
    <p:sldId id="310" r:id="rId14"/>
    <p:sldId id="308" r:id="rId15"/>
    <p:sldId id="309" r:id="rId16"/>
    <p:sldId id="318" r:id="rId17"/>
    <p:sldId id="313" r:id="rId18"/>
    <p:sldId id="314" r:id="rId19"/>
    <p:sldId id="28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C97473-D023-4AFC-87ED-0C5806ACC833}" v="13" dt="2026-03-23T05:30:24.3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5DB351-5FDE-49E1-B890-CC5D23DA73FD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4C1F55-88C3-4AC8-BC1A-8C5EB248C69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C1F55-88C3-4AC8-BC1A-8C5EB248C694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4C1F55-88C3-4AC8-BC1A-8C5EB248C694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3250002" y="265310"/>
            <a:ext cx="6800490" cy="199940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CMR Technical Campus</a:t>
            </a:r>
            <a:br>
              <a:rPr lang="en-US" sz="4000" b="1" dirty="0">
                <a:latin typeface="Times New Roman" panose="02020603050405020304"/>
                <a:cs typeface="Times New Roman" panose="02020603050405020304"/>
              </a:rPr>
            </a:br>
            <a:r>
              <a:rPr lang="en-US" sz="4000" b="1" dirty="0">
                <a:solidFill>
                  <a:srgbClr val="00B0F0"/>
                </a:solidFill>
                <a:latin typeface="Times New Roman" panose="02020603050405020304"/>
                <a:cs typeface="Times New Roman" panose="02020603050405020304"/>
              </a:rPr>
              <a:t>Department of CSE</a:t>
            </a:r>
            <a:endParaRPr lang="en-US" sz="4000" dirty="0">
              <a:solidFill>
                <a:srgbClr val="00B0F0"/>
              </a:solidFill>
              <a:latin typeface="Times New Roman" panose="02020603050405020304"/>
              <a:cs typeface="Times New Roman" panose="02020603050405020304"/>
            </a:endParaRPr>
          </a:p>
          <a:p>
            <a:endParaRPr lang="en-US" dirty="0"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8" name="Picture 7" descr="A logo with a flower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260" y="265310"/>
            <a:ext cx="1648967" cy="14298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51284" y="1676678"/>
            <a:ext cx="38431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Times New Roman" panose="02020603050405020304"/>
              </a:rPr>
              <a:t>Major Project  Stage -I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51230" y="2435860"/>
            <a:ext cx="10687050" cy="8299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  <a:latin typeface="Times New Roman" panose="02020603050405020304"/>
              </a:rPr>
              <a:t>Project Title: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/>
              </a:rPr>
              <a:t>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Crisis Management: A Unified System for Early Warning, Emergency Supply Allocation, and Post-Disaster Recovery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260" y="3763617"/>
            <a:ext cx="4003734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  <a:latin typeface="Times New Roman" panose="02020603050405020304"/>
                <a:cs typeface="Segoe UI" panose="020B0502040204020203"/>
              </a:rPr>
              <a:t>Project Supervisor:</a:t>
            </a:r>
            <a:r>
              <a:rPr lang="en-US" sz="2000" dirty="0">
                <a:latin typeface="Times New Roman" panose="02020603050405020304"/>
                <a:cs typeface="Segoe UI" panose="020B0502040204020203"/>
              </a:rPr>
              <a:t>​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/>
                <a:cs typeface="Segoe UI" panose="020B0502040204020203"/>
              </a:rPr>
              <a:t>Name:</a:t>
            </a:r>
            <a:r>
              <a:rPr lang="en-US" sz="2000" dirty="0">
                <a:latin typeface="Times New Roman" panose="02020603050405020304"/>
                <a:cs typeface="Segoe UI" panose="020B0502040204020203"/>
              </a:rPr>
              <a:t>​ 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/>
                <a:cs typeface="Segoe UI" panose="020B0502040204020203"/>
              </a:rPr>
              <a:t>V. Neeraja </a:t>
            </a:r>
          </a:p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/>
                <a:cs typeface="Segoe UI" panose="020B0502040204020203"/>
              </a:rPr>
              <a:t>Designation: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/>
                <a:cs typeface="Segoe UI" panose="020B0502040204020203"/>
              </a:rPr>
              <a:t> Assistant Professor</a:t>
            </a:r>
            <a:endParaRPr lang="en-IN" sz="2000" dirty="0">
              <a:latin typeface="Times New Roman" panose="02020603050405020304"/>
              <a:cs typeface="Segoe UI" panose="020B0502040204020203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125994" y="3763617"/>
            <a:ext cx="673691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/>
                <a:cs typeface="Segoe UI" panose="020B0502040204020203"/>
              </a:rPr>
              <a:t>Presented By:</a:t>
            </a:r>
            <a:r>
              <a:rPr lang="en-US" dirty="0">
                <a:latin typeface="Times New Roman" panose="02020603050405020304"/>
                <a:cs typeface="Segoe UI" panose="020B0502040204020203"/>
              </a:rPr>
              <a:t>​</a:t>
            </a:r>
          </a:p>
          <a:p>
            <a:r>
              <a:rPr lang="en-US" dirty="0">
                <a:latin typeface="Times New Roman" panose="02020603050405020304"/>
                <a:cs typeface="Segoe UI" panose="020B0502040204020203"/>
              </a:rPr>
              <a:t>Batch No: 23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/>
                <a:cs typeface="Arial" panose="020B0604020202020204"/>
              </a:rPr>
              <a:t>H. No: 227R1A05J8                               Name: T. Vaishnavi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/>
                <a:cs typeface="Arial" panose="020B0604020202020204"/>
              </a:rPr>
              <a:t>H. No: 227R1A05G7                              Name: P. Vishali​</a:t>
            </a:r>
          </a:p>
          <a:p>
            <a:pPr marL="342900" indent="-342900">
              <a:buAutoNum type="arabicPeriod"/>
            </a:pPr>
            <a:r>
              <a:rPr lang="en-US" dirty="0">
                <a:latin typeface="Times New Roman" panose="02020603050405020304"/>
                <a:cs typeface="Times New Roman" panose="02020603050405020304"/>
              </a:rPr>
              <a:t>H. No: 237R5A0520                               Name: K. Shiva Krishna </a:t>
            </a:r>
            <a:r>
              <a:rPr lang="en-US" dirty="0">
                <a:latin typeface="Times New Roman" panose="02020603050405020304"/>
                <a:cs typeface="Segoe UI" panose="020B0502040204020203"/>
              </a:rPr>
              <a:t>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7936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/>
                <a:cs typeface="Times New Roman" panose="02020603050405020304"/>
              </a:rPr>
              <a:t>CONTENTS</a:t>
            </a:r>
            <a:endParaRPr lang="en-US" sz="2800" b="1" dirty="0"/>
          </a:p>
        </p:txBody>
      </p:sp>
      <p:pic>
        <p:nvPicPr>
          <p:cNvPr id="4" name="Content Placeholder 3" descr="A logo with a flower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730119" y="-3622"/>
            <a:ext cx="1477065" cy="1251226"/>
          </a:xfrm>
        </p:spPr>
      </p:pic>
      <p:sp>
        <p:nvSpPr>
          <p:cNvPr id="5" name="TextBox 4"/>
          <p:cNvSpPr txBox="1"/>
          <p:nvPr/>
        </p:nvSpPr>
        <p:spPr>
          <a:xfrm>
            <a:off x="838200" y="1713230"/>
            <a:ext cx="10953115" cy="48856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865"/>
              </a:spcBef>
              <a:buFont typeface="Wingdings" panose="05000000000000000000" charset="0"/>
              <a:buChar char="Ø"/>
              <a:tabLst>
                <a:tab pos="240665" algn="l"/>
              </a:tabLst>
            </a:pPr>
            <a:r>
              <a:rPr lang="en-IN"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Abstract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770"/>
              </a:spcBef>
              <a:buFont typeface="Wingdings" panose="05000000000000000000" charset="0"/>
              <a:buChar char="Ø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Problem</a:t>
            </a:r>
            <a:r>
              <a:rPr sz="2000" spc="-5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Definition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770"/>
              </a:spcBef>
              <a:buFont typeface="Wingdings" panose="05000000000000000000" charset="0"/>
              <a:buChar char="Ø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Literature</a:t>
            </a:r>
            <a:r>
              <a:rPr sz="2000" spc="-6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Review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765"/>
              </a:spcBef>
              <a:buFont typeface="Wingdings" panose="05000000000000000000" charset="0"/>
              <a:buChar char="Ø"/>
              <a:tabLst>
                <a:tab pos="240665" algn="l"/>
              </a:tabLst>
            </a:pPr>
            <a:r>
              <a:rPr sz="2000" dirty="0">
                <a:latin typeface="Times New Roman" panose="02020603050405020304"/>
                <a:cs typeface="Times New Roman" panose="02020603050405020304"/>
                <a:sym typeface="+mn-ea"/>
              </a:rPr>
              <a:t>Proposed</a:t>
            </a:r>
            <a:r>
              <a:rPr sz="2000" spc="-7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System</a:t>
            </a:r>
            <a:endParaRPr lang="en-IN" sz="2000" spc="-1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765"/>
              </a:spcBef>
              <a:buFont typeface="Wingdings" panose="05000000000000000000" charset="0"/>
              <a:buChar char="Ø"/>
              <a:tabLst>
                <a:tab pos="240665" algn="l"/>
              </a:tabLst>
            </a:pPr>
            <a:r>
              <a:rPr lang="en-IN"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Objectives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740"/>
              </a:spcBef>
              <a:buFont typeface="Wingdings" panose="05000000000000000000" charset="0"/>
              <a:buChar char="Ø"/>
              <a:tabLst>
                <a:tab pos="240665" algn="l"/>
              </a:tabLst>
            </a:pP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Methodology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770"/>
              </a:spcBef>
              <a:buFont typeface="Wingdings" panose="05000000000000000000" charset="0"/>
              <a:buChar char="Ø"/>
              <a:tabLst>
                <a:tab pos="240665" algn="l"/>
              </a:tabLst>
            </a:pP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System</a:t>
            </a:r>
            <a:r>
              <a:rPr sz="2000" spc="-105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Architecture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740"/>
              </a:spcBef>
              <a:buFont typeface="Wingdings" panose="05000000000000000000" charset="0"/>
              <a:buChar char="Ø"/>
              <a:tabLst>
                <a:tab pos="240665" algn="l"/>
              </a:tabLst>
            </a:pP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Analysis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770"/>
              </a:spcBef>
              <a:buFont typeface="Wingdings" panose="05000000000000000000" charset="0"/>
              <a:buChar char="Ø"/>
              <a:tabLst>
                <a:tab pos="240665" algn="l"/>
              </a:tabLst>
            </a:pPr>
            <a:r>
              <a:rPr lang="en-IN" sz="2000" dirty="0">
                <a:latin typeface="Times New Roman" panose="02020603050405020304"/>
                <a:cs typeface="Times New Roman" panose="02020603050405020304"/>
                <a:sym typeface="+mn-ea"/>
              </a:rPr>
              <a:t>Screen Shots-Output</a:t>
            </a:r>
            <a:endParaRPr lang="en-IN" sz="20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770"/>
              </a:spcBef>
              <a:buFont typeface="Wingdings" panose="05000000000000000000" charset="0"/>
              <a:buChar char="Ø"/>
              <a:tabLst>
                <a:tab pos="240665" algn="l"/>
              </a:tabLst>
            </a:pPr>
            <a:r>
              <a:rPr lang="en-IN" sz="2000" dirty="0">
                <a:latin typeface="Times New Roman" panose="02020603050405020304"/>
                <a:cs typeface="Times New Roman" panose="02020603050405020304"/>
                <a:sym typeface="+mn-ea"/>
              </a:rPr>
              <a:t>Results and Discussion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745"/>
              </a:spcBef>
              <a:buFont typeface="Wingdings" panose="05000000000000000000" charset="0"/>
              <a:buChar char="Ø"/>
              <a:tabLst>
                <a:tab pos="240665" algn="l"/>
              </a:tabLst>
            </a:pPr>
            <a:r>
              <a:rPr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Conclusion</a:t>
            </a:r>
            <a:r>
              <a:rPr lang="en-IN"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 and </a:t>
            </a:r>
            <a:r>
              <a:rPr lang="en-IN" sz="2000" spc="-10" dirty="0" err="1">
                <a:latin typeface="Times New Roman" panose="02020603050405020304"/>
                <a:cs typeface="Times New Roman" panose="02020603050405020304"/>
                <a:sym typeface="+mn-ea"/>
              </a:rPr>
              <a:t>futurework</a:t>
            </a:r>
            <a:endParaRPr lang="en-IN" sz="2000" spc="-1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lnSpc>
                <a:spcPct val="100000"/>
              </a:lnSpc>
              <a:spcBef>
                <a:spcPts val="745"/>
              </a:spcBef>
              <a:buFont typeface="Wingdings" panose="05000000000000000000" charset="0"/>
              <a:buChar char="Ø"/>
              <a:tabLst>
                <a:tab pos="240665" algn="l"/>
              </a:tabLst>
            </a:pPr>
            <a:r>
              <a:rPr lang="en-US" altLang="en-IN"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R</a:t>
            </a:r>
            <a:r>
              <a:rPr lang="en-IN" sz="2000" spc="-10" dirty="0">
                <a:latin typeface="Times New Roman" panose="02020603050405020304"/>
                <a:cs typeface="Times New Roman" panose="02020603050405020304"/>
                <a:sym typeface="+mn-ea"/>
              </a:rPr>
              <a:t>eferences</a:t>
            </a:r>
            <a:endParaRPr sz="2000" dirty="0">
              <a:latin typeface="Times New Roman" panose="02020603050405020304"/>
              <a:cs typeface="Times New Roman" panose="02020603050405020304"/>
            </a:endParaRPr>
          </a:p>
          <a:p>
            <a:pPr marL="228600" indent="-228600" algn="just">
              <a:lnSpc>
                <a:spcPct val="150000"/>
              </a:lnSpc>
              <a:buChar char="•"/>
            </a:pPr>
            <a:endParaRPr lang="en-US" sz="2000" dirty="0">
              <a:latin typeface="Times New Roman" panose="020206030504050203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285" y="447013"/>
            <a:ext cx="10515600" cy="1109714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/>
                <a:cs typeface="Arial" panose="020B0604020202020204"/>
              </a:rPr>
              <a:t>DEPARTMENT VISION AND MISSION</a:t>
            </a:r>
            <a:endParaRPr lang="en-IN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4285" y="1556727"/>
            <a:ext cx="10006102" cy="480044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VISION: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quality education and a conducive learning environment in computer engineering that foster critical thinking, creativity, and practical problem-solving skills.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MISSION: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1.To educate the students in fundamental principles of computing and induce the skills needed to solve practical problems.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To provide State-of-the-art computing laboratory facilities to promote industry institute interaction to enhance student’s practical knowledge. 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To inculcate self-learning abilities team 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spirit, and professional ethics among the students to serve society.</a:t>
            </a:r>
          </a:p>
          <a:p>
            <a:pPr marL="0" indent="0" algn="just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A logo with a flower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90761"/>
            <a:ext cx="10515600" cy="1251226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/>
                <a:cs typeface="Arial" panose="020B0604020202020204"/>
              </a:rPr>
              <a:t>ABSTRACT</a:t>
            </a:r>
            <a:r>
              <a:rPr lang="en-US" sz="2800" dirty="0">
                <a:latin typeface="Times New Roman" panose="02020603050405020304"/>
                <a:cs typeface="Arial" panose="020B0604020202020204"/>
              </a:rPr>
              <a:t>​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641987"/>
            <a:ext cx="10025418" cy="4534976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Disasters cause major threats to people, infrastructure, and economies, often worsened by slow communication and poor coordination.</a:t>
            </a: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This study presents a smart crisis management framework using </a:t>
            </a:r>
            <a:r>
              <a:rPr lang="en-US" alt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IoT</a:t>
            </a: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sensors, predictive analytics, and automation for real-time monitoring and quick decision-making.</a:t>
            </a: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It helps identify high-risk areas, allocate emergency resources efficiently, and coordinate agencies through a centralized dashboard.</a:t>
            </a: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Simulations and data analysis show faster responses, better resource use, and improved recovery tracking.</a:t>
            </a:r>
          </a:p>
          <a:p>
            <a:pPr algn="just">
              <a:lnSpc>
                <a:spcPct val="100000"/>
              </a:lnSpc>
            </a:pPr>
            <a:r>
              <a:rPr lang="en-US" alt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The integrated approach enhances disaster preparedness, minimizes losses, and supports data-driven decision-making.</a:t>
            </a:r>
            <a:endParaRPr lang="en-US" alt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5" name="Content Placeholder 3" descr="A logo with a flower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119" y="6210"/>
            <a:ext cx="1477065" cy="12512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417" y="432010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/>
                <a:cs typeface="Arial" panose="020B0604020202020204"/>
              </a:rPr>
              <a:t>LITERATURE REVIEW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417" y="1734839"/>
            <a:ext cx="10109433" cy="4351338"/>
          </a:xfrm>
        </p:spPr>
        <p:txBody>
          <a:bodyPr>
            <a:noAutofit/>
          </a:bodyPr>
          <a:lstStyle/>
          <a:p>
            <a:pPr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Gupta, R. &amp; Mehta, S. (2022)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IEEE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AccessDeveloped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Early Warning System integrating satellite and sensor data for disaster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prediction.Enhanced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alert accuracy and reduced false alarms using real-time environmental monitoring.</a:t>
            </a:r>
          </a:p>
          <a:p>
            <a:pPr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Iqbal, T. &amp; Rahman, N. (2023)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Springer, Journal of Disaster Risk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ManagementProposed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Machine Learning framework for optimizing emergency supply allocation during natural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disasters.Applied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Reinforcement Learning to improve decision-making speed and efficiency in relief distribution.</a:t>
            </a:r>
          </a:p>
          <a:p>
            <a:pPr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Patel, D. &amp; Singh, P. (2023)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Elsevier, Expert Systems with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ApplicationsImplemented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Smart Crisis Response Model combining GIS, AI, and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transparent resource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tracking.Reported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improved coordination among agencies and reduced duplication of aid efforts. </a:t>
            </a:r>
          </a:p>
          <a:p>
            <a:pPr algn="just"/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Chen, L. &amp; Wang, Y. (2024)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IEEE Transactions on Computational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IntelligenceIntroduced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Deep Neural Network with attention-based feature extraction for post-disaster damage assessment.</a:t>
            </a:r>
          </a:p>
        </p:txBody>
      </p:sp>
      <p:pic>
        <p:nvPicPr>
          <p:cNvPr id="4" name="Content Placeholder 3" descr="A logo with a flower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7D4B4-D2D0-E15D-407F-75B8DA81F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/>
                <a:cs typeface="Arial" panose="020B0604020202020204"/>
              </a:rPr>
              <a:t>PROBLEM DEFINITION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35972-8D0A-403A-7EE8-389B39FF0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• Disaster response is often delayed due to slow alerts and manual reporting systems.</a:t>
            </a:r>
            <a:br>
              <a:rPr lang="en-US" dirty="0"/>
            </a:br>
            <a:r>
              <a:rPr lang="en-US" dirty="0"/>
              <a:t>• Emergency resources are not distributed efficiently because of poor planning and lack of real-time data.</a:t>
            </a:r>
            <a:br>
              <a:rPr lang="en-US" dirty="0"/>
            </a:br>
            <a:r>
              <a:rPr lang="en-US" dirty="0"/>
              <a:t>• Communication between agencies is fragmented, leading to coordination problems during crises.</a:t>
            </a:r>
            <a:br>
              <a:rPr lang="en-US" dirty="0"/>
            </a:br>
            <a:r>
              <a:rPr lang="en-US" dirty="0"/>
              <a:t>• Post-disaster recovery is not properly monitored, making rehabilitation slow and unorganized.</a:t>
            </a:r>
            <a:br>
              <a:rPr lang="en-US" dirty="0"/>
            </a:br>
            <a:r>
              <a:rPr lang="en-US" dirty="0"/>
              <a:t>• There is no unified platform that integrates early warning, resource allocation, and recovery tracking.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0104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46761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/>
                <a:cs typeface="Arial" panose="020B0604020202020204"/>
              </a:rPr>
              <a:t>OBJECTIVES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72285"/>
            <a:ext cx="10514965" cy="4217035"/>
          </a:xfrm>
        </p:spPr>
        <p:txBody>
          <a:bodyPr>
            <a:normAutofit/>
          </a:bodyPr>
          <a:lstStyle/>
          <a:p>
            <a:pPr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Unified Crisis Management System –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early warning, emergency supply allocation, and post-disaster recovery tracking. </a:t>
            </a:r>
          </a:p>
          <a:p>
            <a:pPr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Response Efficiency –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delays in disaster alerts and resource deployment. </a:t>
            </a:r>
          </a:p>
          <a:p>
            <a:pPr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of Disaster Predictions –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predictive analytics and IoT data for timely detection. </a:t>
            </a:r>
          </a:p>
          <a:p>
            <a:pPr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Scalability and Real-Time Processing –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 large-scale disasters efficiently. </a:t>
            </a:r>
          </a:p>
          <a:p>
            <a:pPr algn="just"/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 Community Resilience –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human and economic losses through proactive disaster management.</a:t>
            </a:r>
          </a:p>
        </p:txBody>
      </p:sp>
      <p:pic>
        <p:nvPicPr>
          <p:cNvPr id="4" name="Content Placeholder 3" descr="A logo with a flower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635" y="225425"/>
            <a:ext cx="10515600" cy="720725"/>
          </a:xfrm>
        </p:spPr>
        <p:txBody>
          <a:bodyPr>
            <a:normAutofit/>
          </a:bodyPr>
          <a:lstStyle/>
          <a:p>
            <a:r>
              <a:rPr lang="en-US" sz="2800" b="1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PROPOSED SYSTEM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065" y="1028065"/>
            <a:ext cx="10631170" cy="541909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dirty="0"/>
              <a:t>• Provides an end-to-end disaster management platform integrating early warning, response, and recovery.</a:t>
            </a:r>
            <a:br>
              <a:rPr lang="en-US" sz="2400" dirty="0"/>
            </a:br>
            <a:r>
              <a:rPr lang="en-US" sz="2400" dirty="0"/>
              <a:t>• Uses predictive analytics and real-time data to detect disaster risks and forecast impact.</a:t>
            </a:r>
            <a:br>
              <a:rPr lang="en-US" sz="2400" dirty="0"/>
            </a:br>
            <a:r>
              <a:rPr lang="en-US" sz="2400" dirty="0"/>
              <a:t>• Automates emergency resource allocation to ensure efficient and timely supply distribution.</a:t>
            </a:r>
            <a:br>
              <a:rPr lang="en-US" sz="2400" dirty="0"/>
            </a:br>
            <a:r>
              <a:rPr lang="en-US" sz="2400" dirty="0"/>
              <a:t>• Monitors post-disaster recovery and offers a centralized dashboard for coordinated decision-making.</a:t>
            </a:r>
            <a:br>
              <a:rPr lang="en-US" sz="2400" dirty="0"/>
            </a:br>
            <a:r>
              <a:rPr lang="en-US" sz="2400" dirty="0"/>
              <a:t>• Scalable and robust system capable of handling large datasets and multiple disaster situations simultaneously.</a:t>
            </a:r>
            <a:endParaRPr lang="en-US" alt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Content Placeholder 3" descr="A logo with a flower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48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5" name="Content Placeholder 3" descr="A logo with a flower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0483" y="1510146"/>
            <a:ext cx="9983989" cy="50153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97D4-6E1F-41E5-9D8E-137E17F28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15" dirty="0">
                <a:latin typeface="Times New Roman" panose="02020603050405020304" pitchFamily="18" charset="0"/>
              </a:rPr>
              <a:t>Implementation (Sample Code)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5E5F7-3770-689F-1F55-94AF8D618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Array "</a:t>
            </a:r>
            <a:r>
              <a:rPr lang="en-IN" sz="3200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mo:core</a:t>
            </a: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/Array";</a:t>
            </a:r>
          </a:p>
          <a:p>
            <a:pPr marL="0" indent="0">
              <a:buNone/>
            </a:pP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Iter "</a:t>
            </a:r>
            <a:r>
              <a:rPr lang="en-IN" sz="3200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mo:core</a:t>
            </a: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/Iter"; </a:t>
            </a:r>
          </a:p>
          <a:p>
            <a:pPr marL="0" indent="0">
              <a:buNone/>
            </a:pP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Map "</a:t>
            </a:r>
            <a:r>
              <a:rPr lang="en-IN" sz="3200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mo:core</a:t>
            </a: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/Map"; import Set "</a:t>
            </a:r>
            <a:r>
              <a:rPr lang="en-IN" sz="3200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mo:core</a:t>
            </a: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/Set"; import Text "</a:t>
            </a:r>
            <a:r>
              <a:rPr lang="en-IN" sz="3200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mo:core</a:t>
            </a: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/Text"; </a:t>
            </a:r>
          </a:p>
          <a:p>
            <a:pPr marL="0" indent="0">
              <a:buNone/>
            </a:pP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Nat "</a:t>
            </a:r>
            <a:r>
              <a:rPr lang="en-IN" sz="3200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mo:core</a:t>
            </a: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/Nat"; import Int "</a:t>
            </a:r>
            <a:r>
              <a:rPr lang="en-IN" sz="3200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mo:core</a:t>
            </a: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/Int"; import Time "</a:t>
            </a:r>
            <a:r>
              <a:rPr lang="en-IN" sz="3200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mo:core</a:t>
            </a: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/Time"; </a:t>
            </a:r>
          </a:p>
          <a:p>
            <a:pPr marL="0" indent="0">
              <a:buNone/>
            </a:pP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Order "</a:t>
            </a:r>
            <a:r>
              <a:rPr lang="en-IN" sz="3200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mo:core</a:t>
            </a: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/Order"; </a:t>
            </a:r>
          </a:p>
          <a:p>
            <a:pPr marL="0" indent="0">
              <a:buNone/>
            </a:pP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Runtime "</a:t>
            </a:r>
            <a:r>
              <a:rPr lang="en-IN" sz="3200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mo:core</a:t>
            </a: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/Runtime"; </a:t>
            </a:r>
          </a:p>
          <a:p>
            <a:pPr marL="0" indent="0">
              <a:buNone/>
            </a:pP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Principal "</a:t>
            </a:r>
            <a:r>
              <a:rPr lang="en-IN" sz="3200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mo:core</a:t>
            </a: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/Principal"; </a:t>
            </a:r>
          </a:p>
          <a:p>
            <a:pPr marL="0" indent="0">
              <a:buNone/>
            </a:pP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3200" spc="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AccessControl</a:t>
            </a:r>
            <a:r>
              <a:rPr lang="en-IN" sz="32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"authorization/access-control"; import Storage "blob-storage/Storage</a:t>
            </a:r>
          </a:p>
        </p:txBody>
      </p:sp>
      <p:pic>
        <p:nvPicPr>
          <p:cNvPr id="4" name="Content Placeholder 3" descr="A logo with a flower&#10;&#10;Description automatically generated">
            <a:extLst>
              <a:ext uri="{FF2B5EF4-FFF2-40B4-BE49-F238E27FC236}">
                <a16:creationId xmlns:a16="http://schemas.microsoft.com/office/drawing/2014/main" id="{1CA36061-6375-06E5-DB60-CD7634303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853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83019-EF06-F263-80AC-431EEDFAB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71" y="2766218"/>
            <a:ext cx="10515600" cy="1325563"/>
          </a:xfrm>
        </p:spPr>
        <p:txBody>
          <a:bodyPr>
            <a:noAutofit/>
          </a:bodyPr>
          <a:lstStyle/>
          <a:p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 { // -------------------------- 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Type Definitions &amp; Compare Modules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--------------------------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Principal; type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IncidentId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Nat; 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AlertId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Nat; 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TaskId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Nat; 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type Severity = { #low; #medium; #high; #critical }; 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type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UserRole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 #admin; #volunteer; #citizen; }; 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type Location = { latitude : Float; longitude : Float; region : Text; };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type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UserProfile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{ 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 :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: Text; 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: </a:t>
            </a: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UserRole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: Location; </a:t>
            </a:r>
            <a:b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contactInfo</a:t>
            </a: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Text; }; </a:t>
            </a:r>
          </a:p>
        </p:txBody>
      </p:sp>
    </p:spTree>
    <p:extLst>
      <p:ext uri="{BB962C8B-B14F-4D97-AF65-F5344CB8AC3E}">
        <p14:creationId xmlns:p14="http://schemas.microsoft.com/office/powerpoint/2010/main" val="2956580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2963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AND DISCUSSION</a:t>
            </a:r>
            <a:br>
              <a:rPr lang="en-US" dirty="0">
                <a:latin typeface="Times New Roman" panose="02020603050405020304"/>
                <a:cs typeface="Arial" panose="020B0604020202020204"/>
              </a:rPr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8730" y="1822450"/>
            <a:ext cx="6073775" cy="3569335"/>
          </a:xfrm>
          <a:prstGeom prst="rect">
            <a:avLst/>
          </a:prstGeom>
        </p:spPr>
      </p:pic>
      <p:pic>
        <p:nvPicPr>
          <p:cNvPr id="5" name="Content Placeholder 3" descr="A logo with a flower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119" y="-3622"/>
            <a:ext cx="1477065" cy="1251226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3210560" y="5495925"/>
            <a:ext cx="5080000" cy="62992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Fig 6: </a:t>
            </a: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for Disaster Detectio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048000" y="3260090"/>
            <a:ext cx="6096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1600">
                <a:sym typeface="+mn-ea"/>
              </a:rPr>
              <a:t>n</a:t>
            </a:r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701" y="1833057"/>
            <a:ext cx="10025418" cy="4549499"/>
          </a:xfrm>
        </p:spPr>
        <p:txBody>
          <a:bodyPr>
            <a:normAutofit/>
          </a:bodyPr>
          <a:lstStyle/>
          <a:p>
            <a:pPr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Fig 5 :Performance Metrics of Smart Crisis Management System</a:t>
            </a:r>
          </a:p>
          <a:p>
            <a:pPr algn="just"/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A logo with a flower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700" y="1055370"/>
            <a:ext cx="7722235" cy="3916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905" y="708135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/>
                <a:cs typeface="Arial" panose="020B0604020202020204"/>
              </a:rPr>
              <a:t>SCREENSHOTS OUTPUT</a:t>
            </a:r>
            <a:br>
              <a:rPr lang="en-US" sz="2800" dirty="0">
                <a:latin typeface="Times New Roman" panose="02020603050405020304"/>
                <a:cs typeface="Arial" panose="020B0604020202020204"/>
              </a:rPr>
            </a:br>
            <a:endParaRPr lang="en-IN" sz="28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0895" y="1840865"/>
            <a:ext cx="5022215" cy="3413760"/>
          </a:xfrm>
          <a:prstGeom prst="rect">
            <a:avLst/>
          </a:prstGeom>
        </p:spPr>
      </p:pic>
      <p:pic>
        <p:nvPicPr>
          <p:cNvPr id="4" name="Content Placeholder 3" descr="A logo with a flower&#10;&#10;Description automatically generat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0119" y="-3622"/>
            <a:ext cx="1477065" cy="1251226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810260" y="5374005"/>
            <a:ext cx="10868660" cy="83312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Fig 1: </a:t>
            </a:r>
            <a:r>
              <a:rPr sz="1600">
                <a:latin typeface="Times New Roman" panose="02020603050405020304" pitchFamily="18" charset="0"/>
                <a:cs typeface="Times New Roman" panose="02020603050405020304" pitchFamily="18" charset="0"/>
              </a:rPr>
              <a:t>GUI/Main Interface of Smart Crisis Management System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                                                                           Fig 2: Admin Dashboard of Smart Crisis Management System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sz="16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3170" y="1757680"/>
            <a:ext cx="5365750" cy="36156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905" y="708135"/>
            <a:ext cx="10515600" cy="1325563"/>
          </a:xfrm>
        </p:spPr>
        <p:txBody>
          <a:bodyPr>
            <a:normAutofit/>
          </a:bodyPr>
          <a:lstStyle/>
          <a:p>
            <a:br>
              <a:rPr lang="en-US" sz="2800" dirty="0">
                <a:latin typeface="Times New Roman" panose="02020603050405020304"/>
                <a:cs typeface="Arial" panose="020B0604020202020204"/>
              </a:rPr>
            </a:b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850" y="1833245"/>
            <a:ext cx="10800715" cy="4549775"/>
          </a:xfrm>
        </p:spPr>
        <p:txBody>
          <a:bodyPr>
            <a:normAutofit fontScale="52500" lnSpcReduction="20000"/>
          </a:bodyPr>
          <a:lstStyle/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Volunteer Dashboard of Smart 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Crisis Management System    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4: Citizen Dashboard of Smart Crisis Management System</a:t>
            </a: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</a:p>
          <a:p>
            <a:pPr marL="0" indent="0" algn="just">
              <a:buNone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</p:txBody>
      </p:sp>
      <p:pic>
        <p:nvPicPr>
          <p:cNvPr id="4" name="Content Placeholder 3" descr="A logo with a flower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" y="1052195"/>
            <a:ext cx="4825365" cy="38550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130935"/>
            <a:ext cx="5266690" cy="37769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CDD39-0F32-0666-0655-D606429B1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991A4-2464-F630-5E18-3FEF5D75C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Operating System : Windows 10+ or Android 13+</a:t>
            </a:r>
            <a:br>
              <a:rPr lang="en-IN" dirty="0"/>
            </a:br>
            <a:r>
              <a:rPr lang="en-IN" dirty="0"/>
              <a:t>Language : Python, JavaScript (React Native), Node.js</a:t>
            </a:r>
            <a:br>
              <a:rPr lang="en-IN" dirty="0"/>
            </a:br>
            <a:r>
              <a:rPr lang="en-IN" dirty="0"/>
              <a:t>Front-End : React Native / React.js</a:t>
            </a:r>
            <a:br>
              <a:rPr lang="en-IN" dirty="0"/>
            </a:br>
            <a:r>
              <a:rPr lang="en-IN" dirty="0"/>
              <a:t>Back-End : Node.js with Express</a:t>
            </a:r>
            <a:br>
              <a:rPr lang="en-IN" dirty="0"/>
            </a:br>
            <a:r>
              <a:rPr lang="en-IN" dirty="0"/>
              <a:t>Database : Firebase </a:t>
            </a:r>
            <a:r>
              <a:rPr lang="en-IN" dirty="0" err="1"/>
              <a:t>Firestore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9373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02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/>
                <a:cs typeface="Arial" panose="020B0604020202020204"/>
                <a:sym typeface="+mn-ea"/>
              </a:rPr>
              <a:t>CONCLUSION AND FUTUREWORK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9550"/>
            <a:ext cx="10515600" cy="4697730"/>
          </a:xfrm>
        </p:spPr>
        <p:txBody>
          <a:bodyPr>
            <a:normAutofit fontScale="92500"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unified platform for early warning, incident reporting, resource allocation, and recovery tracking.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real-time citizen reporting and faster authority response.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coordination, situational awareness, and structured disaster management.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role-based access for administrators, volunteers, and citizens.</a:t>
            </a:r>
          </a:p>
          <a:p>
            <a:pPr marL="0" indent="0"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ML Integration → Better disaster prediction and risk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Sensors → Real-time monitoring of water levels, temperature, seismic activity.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GIS &amp; Satellite Imagery → Enhanced visualization and planning of relief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improvement for scalability, sustainability, and innovation.</a:t>
            </a:r>
          </a:p>
        </p:txBody>
      </p:sp>
      <p:pic>
        <p:nvPicPr>
          <p:cNvPr id="5" name="Content Placeholder 3" descr="A logo with a flower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020"/>
          </a:xfrm>
        </p:spPr>
        <p:txBody>
          <a:bodyPr>
            <a:normAutofit fontScale="90000"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9550"/>
            <a:ext cx="10515600" cy="469773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[1] S. Marzi, J. Mysiak, A. H. Essenfelder, J. S. Pal, L. Vernaccini, M. N. Mistry, L. Alfieri, K. Poljansek, M. Marin-Ferrer, and M. Vousdoukas, “Assessing future vulnerability and risk of humanitarian crises using climate change and population projections within the INFORM framework,” Global Environmental Change, vol. 71, p. 102393, 2021. 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[2] W. Sun, P. Bocchini, and B. D. Davison, “Applications of artificial intelligence for disaster management,” Natural Hazards, vol. 103, no. 3, pp. 2631–2689, 2020. 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[3] B. Adini, O. Cohen, A. W. Eide, S. Nilsson, L. Aharonson-Daniel, and I. A. Herrera, “Striving to be resilient: What concepts, approaches and practices should be incorporated in resilience management guidelines?” Technological Forecasting and Social Change, vol. 121, pp. 39–49, 2017. 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[4] P. P. Ray, M. Mukherjee, and L. Shu, “Internet of Things for disaster management: State-ofthe-art and prospects,” IEEE Access, vol. 5, pp. 18818–18835, 2017. 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[5] M. Aboualola, K. Abualsaud, T. Khattab, N. Zorba, and H. S. Hassanein, “Edge technologies for disaster management: A survey of social media and artificial intelligence integration,” IEEE Access, vol. 11, pp. 1–18, 2023. </a:t>
            </a:r>
          </a:p>
          <a:p>
            <a:pPr marL="0" indent="0"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[6] K. Albris, K. C. Lauta, and E. Raju, “Strengthening governance for disaster prevention: The enhancing risk management capabilities guidelines,” International Journal of Disaster Risk Reduction, vol. 47, p. 101647, 2020. </a:t>
            </a:r>
          </a:p>
        </p:txBody>
      </p:sp>
      <p:pic>
        <p:nvPicPr>
          <p:cNvPr id="5" name="Content Placeholder 3" descr="A logo with a flower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866030"/>
            <a:ext cx="12192000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A logo with a flower&#10;&#10;Description automatically generat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119" y="-3622"/>
            <a:ext cx="1477065" cy="12512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1531</Words>
  <Application>Microsoft Office PowerPoint</Application>
  <PresentationFormat>Widescreen</PresentationFormat>
  <Paragraphs>120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CMR Technical Campus Department of CSE </vt:lpstr>
      <vt:lpstr>CONTENTS</vt:lpstr>
      <vt:lpstr>DEPARTMENT VISION AND MISSION</vt:lpstr>
      <vt:lpstr>ABSTRACT​</vt:lpstr>
      <vt:lpstr>LITERATURE REVIEW</vt:lpstr>
      <vt:lpstr>PROBLEM DEFINITION</vt:lpstr>
      <vt:lpstr>OBJECTIVES</vt:lpstr>
      <vt:lpstr>PROPOSED SYSTEM</vt:lpstr>
      <vt:lpstr>SYSTEM ARCHITECTURE</vt:lpstr>
      <vt:lpstr>Implementation (Sample Code)</vt:lpstr>
      <vt:lpstr>actor { // --------------------------  // Type Definitions &amp; Compare Modules // -------------------------- type UserId = Principal; type IncidentId = Nat;  type AlertId = Nat;  type TaskId = Nat;  public type Severity = { #low; #medium; #high; #critical };  public type UserRole = { #admin; #volunteer; #citizen; };  public type Location = { latitude : Float; longitude : Float; region : Text; }; public type UserProfile = {  id : UserId;  name : Text;  role : UserRole; location : Location;  contactInfo : Text; }; </vt:lpstr>
      <vt:lpstr>RESULT AND DISCUSSION </vt:lpstr>
      <vt:lpstr>PowerPoint Presentation</vt:lpstr>
      <vt:lpstr>SCREENSHOTS OUTPUT </vt:lpstr>
      <vt:lpstr> </vt:lpstr>
      <vt:lpstr>Tools and Technologies</vt:lpstr>
      <vt:lpstr>CONCLUSION AND FUTUREWORK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keerthika sai dirisala</cp:lastModifiedBy>
  <cp:revision>144</cp:revision>
  <dcterms:created xsi:type="dcterms:W3CDTF">2024-03-19T15:57:00Z</dcterms:created>
  <dcterms:modified xsi:type="dcterms:W3CDTF">2026-04-08T16:01:42Z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39BD0975BEE7437883F177E491E70E84_13</vt:lpwstr>
  </property>
  <property fmtid="{D5CDD505-2E9C-101B-9397-08002B2CF9AE}" pid="3" name="KSOProductBuildVer">
    <vt:lpwstr>1033-12.2.0.23196</vt:lpwstr>
  </property>
</Properties>
</file>